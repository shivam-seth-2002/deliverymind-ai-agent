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Intelligent Client Delivery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9FFD"/>
                </a:solidFill>
              </a:defRPr>
            </a:pPr>
            <a:r>
              <a:t>for MAQ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94A3B8"/>
                </a:solidFill>
              </a:defRPr>
            </a:pPr>
            <a:r>
              <a:t>AI-Powered Project Health Intelligence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754880"/>
            <a:ext cx="1463040" cy="502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28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389FFD"/>
                </a:solidFill>
              </a:defRPr>
            </a:pPr>
            <a:r>
              <a:t>Semantic Kernel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4754880"/>
            <a:ext cx="1463040" cy="502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4828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389FFD"/>
                </a:solidFill>
              </a:defRPr>
            </a:pPr>
            <a:r>
              <a:t>LlamaIndex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4754880"/>
            <a:ext cx="1463040" cy="502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828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389FFD"/>
                </a:solidFill>
              </a:defRPr>
            </a:pPr>
            <a:r>
              <a:t>FastAPI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4754880"/>
            <a:ext cx="1463040" cy="502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4828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389FFD"/>
                </a:solidFill>
              </a:defRPr>
            </a:pPr>
            <a:r>
              <a:t>ChromaDB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0" y="4754880"/>
            <a:ext cx="1463040" cy="502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4828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389FFD"/>
                </a:solidFill>
              </a:defRPr>
            </a:pPr>
            <a:r>
              <a:t>Copilot Studio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4754880"/>
            <a:ext cx="1463040" cy="5029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4828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389FFD"/>
                </a:solidFill>
              </a:defRPr>
            </a:pPr>
            <a:r>
              <a:t>Azure DevOps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</a:defRPr>
            </a:pPr>
            <a:r>
              <a:t>Presented by: Shivam Seth  |  MAQ Software  |  July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8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7C3AED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Why Do We Need This?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4937760" cy="17373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📊  Scattered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CBD5E1"/>
                </a:solidFill>
              </a:defRPr>
            </a:pPr>
            <a:r>
              <a:t>Project health data lives across SharePoint, Azure DevOps, Dynamics 365, and emails. Managers waste hours searching.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4937760" cy="17373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⏰  Slow Reporting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CBD5E1"/>
                </a:solidFill>
              </a:defRPr>
            </a:pPr>
            <a:r>
              <a:t>Traditional status reports take hours to compile manually every week. By the time they're done, the data is already outdated.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23360"/>
            <a:ext cx="4937760" cy="17373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206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🔍  No Single Source of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7548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CBD5E1"/>
                </a:solidFill>
              </a:defRPr>
            </a:pPr>
            <a:r>
              <a:t>Different teams track progress differently. There's no unified, real-time view of project health.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4937760" cy="17373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06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💬  Context Switching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548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CBD5E1"/>
                </a:solidFill>
              </a:defRPr>
            </a:pPr>
            <a:r>
              <a:t>Managers must leave Microsoft Teams to check dashboards, spreadsheets, and portals just to answer a simple question.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An AI Agent Inside Microsoft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</a:defRPr>
            </a:pPr>
            <a:r>
              <a:t>Instead of searching across 5 different tools, delivery managers simply ask a question in Teams and get an instant, AI-generated health report.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3017520"/>
            <a:ext cx="640080" cy="640080"/>
          </a:xfrm>
          <a:prstGeom prst="ellipse">
            <a:avLst/>
          </a:prstGeom>
          <a:solidFill>
            <a:srgbClr val="38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63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9FFD"/>
                </a:solidFill>
              </a:defRPr>
            </a:pPr>
            <a:r>
              <a:t>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Manager types a</a:t>
            </a:r>
            <a:br/>
            <a:r>
              <a:t>question in Teams</a:t>
            </a:r>
          </a:p>
        </p:txBody>
      </p:sp>
      <p:sp>
        <p:nvSpPr>
          <p:cNvPr id="10" name="Oval 9"/>
          <p:cNvSpPr/>
          <p:nvPr/>
        </p:nvSpPr>
        <p:spPr>
          <a:xfrm>
            <a:off x="3566160" y="301752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063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389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Copilot Studio sends</a:t>
            </a:r>
            <a:br/>
            <a:r>
              <a:t>it to our Python API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0" y="30175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3063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389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Hybrid RAG finds</a:t>
            </a:r>
            <a:br/>
            <a:r>
              <a:t>relevant project data</a:t>
            </a:r>
          </a:p>
        </p:txBody>
      </p:sp>
      <p:sp>
        <p:nvSpPr>
          <p:cNvPr id="18" name="Oval 17"/>
          <p:cNvSpPr/>
          <p:nvPr/>
        </p:nvSpPr>
        <p:spPr>
          <a:xfrm>
            <a:off x="7955280" y="30175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3063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Synthesize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389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Semantic Kernel formats</a:t>
            </a:r>
            <a:br/>
            <a:r>
              <a:t>a beautiful report</a:t>
            </a:r>
          </a:p>
        </p:txBody>
      </p:sp>
      <p:sp>
        <p:nvSpPr>
          <p:cNvPr id="22" name="Oval 21"/>
          <p:cNvSpPr/>
          <p:nvPr/>
        </p:nvSpPr>
        <p:spPr>
          <a:xfrm>
            <a:off x="10149840" y="301752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3063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Respond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389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Report appears in</a:t>
            </a:r>
            <a:br/>
            <a:r>
              <a:t>Teams in seconds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286000" y="3200400"/>
            <a:ext cx="91440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4480560" y="3200400"/>
            <a:ext cx="91440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6675120" y="3200400"/>
            <a:ext cx="91440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8869680" y="3200400"/>
            <a:ext cx="91440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389FFD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System Architecture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058400" cy="8229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01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9FFD"/>
                </a:solidFill>
              </a:defRPr>
            </a:pPr>
            <a:r>
              <a:t>🖥️  User Interface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Microsoft Teams + Copilot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40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</a:defRPr>
            </a:pPr>
            <a:r>
              <a:t>The user asks a question in Teams. Copilot Studio captures it and sends an HTTP POST to our backend.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10058400" cy="8229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862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</a:defRPr>
            </a:pPr>
            <a:r>
              <a:t>⚡  Gateway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62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FastAPI + Ngrok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00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</a:defRPr>
            </a:pPr>
            <a:r>
              <a:t>FastAPI receives the request on port 8000. Ngrok tunnels it from the cloud to your local laptop.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49040"/>
            <a:ext cx="10058400" cy="8229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8221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🧠  Orchestration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822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Microsoft Semantic Kernel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160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</a:defRPr>
            </a:pPr>
            <a:r>
              <a:t>Semantic Kernel orchestrates the AI workflow. It commands agents to fetch data, then formats the final report.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09160"/>
            <a:ext cx="10058400" cy="8229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7823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🔍  Data Retrieval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7823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LlamaIndex + ChromaDB + BM25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</a:defRPr>
            </a:pPr>
            <a:r>
              <a:t>Hybrid RAG searches local files using both semantic meaning (ChromaDB) and exact keywords (BM25).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669280"/>
            <a:ext cx="10058400" cy="8229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742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⚙️  CI/CD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7424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Azure DevOps + Git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6080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</a:defRPr>
            </a:pPr>
            <a:r>
              <a:t>Automated pipeline that lints (flake8), tests (pytest), and packages the code on every git push.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8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59E0B"/>
                </a:solidFill>
              </a:defRPr>
            </a:pPr>
            <a:r>
              <a:t>CORE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Hybrid RAG: How the AI Finds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</a:defRPr>
            </a:pPr>
            <a:r>
              <a:t>RAG (Retrieval-Augmented Generation) injects your own private project data into the AI's response, preventing hallucination.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4754880" cy="34747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9FFD"/>
                </a:solidFill>
              </a:defRPr>
            </a:pPr>
            <a:r>
              <a:t>🧠 ChromaDB — Semantic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6616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✦  Searches by MEANING, not exact words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✦  Converts text into mathematical vectors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✦  "financials" → finds "budget", "cost", "revenue"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✦  Uses Sentence Transformers AI model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✦  Best for: conceptual / fuzzy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4754880" cy="34747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🔑 BM25 — Keyword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56616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✦  Searches by EXACT words and phrases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✦  Uses statistical term frequency (TF-IDF)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✦  "Project Beta" → finds only "Project Beta"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✦  Classic information retrieval algorithm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✦  Best for: names, IDs, specific terms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Microsoft Semantic Kernel: The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</a:defRPr>
            </a:pPr>
            <a:r>
              <a:t>Semantic Kernel is Microsoft's open-source SDK for building AI agents. It acts as the intelligent coordinator that connects the user's question to the data and formats the final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17520"/>
            <a:ext cx="493776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154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9FFD"/>
                </a:solidFill>
              </a:defRPr>
            </a:pPr>
            <a:r>
              <a:t>🎯  Prompt Templates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661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Uses structured prompts with variables like {{$query}} and {{$rag_context}} to control exactly how the AI responds.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493776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154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</a:defRPr>
            </a:pPr>
            <a:r>
              <a:t>🔌  Plugin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5661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Modular design — each agent (Retrieval, DevOps) is a plugin that Semantic Kernel can invoke independently.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493776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00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</a:defRPr>
            </a:pPr>
            <a:r>
              <a:t>🛡️  Grounded Responses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21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The prompt explicitly instructs: 'Use ONLY the provided context.' This prevents the AI from making up answers.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63440"/>
            <a:ext cx="493776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800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</a:defRPr>
            </a:pPr>
            <a:r>
              <a:t>📊  Report Formatting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21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Instructs the AI to use Markdown tables, emojis (🟢🔴🟡), and structured sections for beautiful output.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7C3AED"/>
                </a:solidFill>
              </a:defRPr>
            </a:pPr>
            <a:r>
              <a:t>REQUEST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"What is the health of Project Beta?"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38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User types question in Microsoft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89FFD"/>
                </a:solidFill>
              </a:defRPr>
            </a:pPr>
            <a:r>
              <a:t>CLOUD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200400"/>
            <a:ext cx="457200" cy="457200"/>
          </a:xfrm>
          <a:prstGeom prst="ellipse">
            <a:avLst/>
          </a:prstGeom>
          <a:solidFill>
            <a:srgbClr val="38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Copilot Studio captures it &amp; sends HTTP 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89FFD"/>
                </a:solidFill>
              </a:defRPr>
            </a:pPr>
            <a:r>
              <a:t>CLOUD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297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Ngrok tunnels the request to localhost:8000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7C3AED"/>
                </a:solidFill>
              </a:defRPr>
            </a:pPr>
            <a:r>
              <a:t>BRIDGE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3949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394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FastAPI validates &amp; passes to 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LOCAL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21031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Semantic Kernel triggers Hybrid RAG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LOCAL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ChromaDB + BM25 search local data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LOCAL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42976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343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297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Semantic Kernel formats Markdown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LOCAL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0" y="5394960"/>
            <a:ext cx="457200" cy="457200"/>
          </a:xfrm>
          <a:prstGeom prst="ellipse">
            <a:avLst/>
          </a:prstGeom>
          <a:solidFill>
            <a:srgbClr val="38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440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</a:defRPr>
            </a:pPr>
            <a:r>
              <a:t>Response travels back through Ngrok to Teams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89FFD"/>
                </a:solidFill>
              </a:defRPr>
            </a:pPr>
            <a:r>
              <a:t>CLOUD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389FFD"/>
                </a:solidFill>
              </a:defRPr>
            </a:pPr>
            <a:r>
              <a:t>CODEBASE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Code Files &amp; Their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93776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89FFD"/>
                </a:solidFill>
              </a:defRPr>
            </a:pPr>
            <a:r>
              <a:t>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FFD"/>
                </a:solidFill>
              </a:defRPr>
            </a:pPr>
            <a:r>
              <a:t>src/api.py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CBD5E1"/>
                </a:solidFill>
              </a:defRPr>
            </a:pPr>
            <a:r>
              <a:t>FastAPI web server. Receives HTTP POST, validates data with Pydantic, calls the orchestrator, returns the Markdown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493776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1920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Brain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src/orchestrator/</a:t>
            </a:r>
            <a:br/>
            <a:r>
              <a:t>insight_orchestrator.py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231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CBD5E1"/>
                </a:solidFill>
              </a:defRPr>
            </a:pPr>
            <a:r>
              <a:t>Semantic Kernel orchestrator. Fills prompt templates with RAG context, generates the formatted AI report.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383280"/>
            <a:ext cx="493776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474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Researcher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src/agents/</a:t>
            </a:r>
            <a:br/>
            <a:r>
              <a:t>retrieval_agent.py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776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CBD5E1"/>
                </a:solidFill>
              </a:defRPr>
            </a:pPr>
            <a:r>
              <a:t>Hybrid RAG agent. Uses LlamaIndex to run ChromaDB vector search + BM25 keyword search simultaneously.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83280"/>
            <a:ext cx="493776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3474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7C3AED"/>
                </a:solidFill>
              </a:defRPr>
            </a:pPr>
            <a:r>
              <a:t>Data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src/mcp_server/</a:t>
            </a:r>
            <a:br/>
            <a:r>
              <a:t>devops_mcp.py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776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CBD5E1"/>
                </a:solidFill>
              </a:defRPr>
            </a:pPr>
            <a:r>
              <a:t>MCP server for Azure DevOps. Fetches sprint velocity, bug counts, and work item data from the DevOps API.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937760"/>
            <a:ext cx="493776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5029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EF4444"/>
                </a:solidFill>
              </a:defRPr>
            </a:pPr>
            <a:r>
              <a:t>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src/utils/</a:t>
            </a:r>
            <a:br/>
            <a:r>
              <a:t>telemetry.py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321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CBD5E1"/>
                </a:solidFill>
              </a:defRPr>
            </a:pPr>
            <a:r>
              <a:t>Azure Monitor integration. Logs all requests, errors, and response times for observability.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937760"/>
            <a:ext cx="4937760" cy="1371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5029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60A5FA"/>
                </a:solidFill>
              </a:defRPr>
            </a:pPr>
            <a:r>
              <a:t>CI/CD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</a:defRPr>
            </a:pPr>
            <a:r>
              <a:t>azure-pipelines.yml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5321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CBD5E1"/>
                </a:solidFill>
              </a:defRPr>
            </a:pPr>
            <a:r>
              <a:t>4-stage pipeline: Build &amp; Test → Deploy Dev → Deploy Test → Deploy Prod. Runs flake8 + pytest automatically.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8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EF4444"/>
                </a:solidFill>
              </a:defRPr>
            </a:pPr>
            <a:r>
              <a:t>CI/CD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Azure DevOps: Automated Build &amp; Deploy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2377440" cy="3657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2468880"/>
            <a:ext cx="731520" cy="731520"/>
          </a:xfrm>
          <a:prstGeom prst="ellipse">
            <a:avLst/>
          </a:prstGeom>
          <a:solidFill>
            <a:srgbClr val="38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2514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9FFD"/>
                </a:solidFill>
              </a:defRPr>
            </a:pPr>
            <a:r>
              <a:t>Build &amp;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931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Install dependencies</a:t>
            </a:r>
            <a:br/>
            <a:r>
              <a:t>Lint with flake8</a:t>
            </a:r>
            <a:br/>
            <a:r>
              <a:t>Run pytest</a:t>
            </a:r>
            <a:br/>
            <a:r>
              <a:t>Publish artifacts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194560"/>
            <a:ext cx="2377440" cy="3657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43400" y="246888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514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Deploy to 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931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Download artifact</a:t>
            </a:r>
            <a:br/>
            <a:r>
              <a:t>Deploy to Azure App Service</a:t>
            </a:r>
            <a:br/>
            <a:r>
              <a:t>Run smoke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2377440" cy="3657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246888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2514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Deploy to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931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Approval gate required</a:t>
            </a:r>
            <a:br/>
            <a:r>
              <a:t>Deploy to Test environment</a:t>
            </a:r>
            <a:br/>
            <a:r>
              <a:t>Run integration 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2194560"/>
            <a:ext cx="2377440" cy="36576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46920" y="2468880"/>
            <a:ext cx="731520" cy="7315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514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Deploy to Prod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931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Production deployment</a:t>
            </a:r>
            <a:br/>
            <a:r>
              <a:t>Managed identity auth</a:t>
            </a:r>
            <a:br/>
            <a:r>
              <a:t>Azure AI Search integration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337560" y="3840480"/>
            <a:ext cx="27432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5989320" y="3840480"/>
            <a:ext cx="27432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8641080" y="3840480"/>
            <a:ext cx="27432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389FFD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93776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01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9FFD"/>
                </a:solidFill>
              </a:defRPr>
            </a:pPr>
            <a:r>
              <a:t>Microsoft Semantic 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9019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89FFD"/>
                </a:solidFill>
              </a:defRPr>
            </a:pPr>
            <a:r>
              <a:t>AI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</a:defRPr>
            </a:pPr>
            <a:r>
              <a:t>Open-source SDK for building AI agents with prompt templates and plugins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493776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01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t>LlamaIndex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9019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RAG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</a:defRPr>
            </a:pPr>
            <a:r>
              <a:t>Connects private data to LLMs via document indexing and retrieval pipelines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26080"/>
            <a:ext cx="493776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999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t>ChromaDB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9992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7C3AED"/>
                </a:solidFill>
              </a:defRPr>
            </a:pPr>
            <a:r>
              <a:t>Vector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</a:defRPr>
            </a:pPr>
            <a:r>
              <a:t>Stores document embeddings for fast semantic similarity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80"/>
            <a:ext cx="493776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999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BM25 (rank_bm25)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9992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Keyword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83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</a:defRPr>
            </a:pPr>
            <a:r>
              <a:t>Statistical keyword retrieval algorithm for precise term matching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023360"/>
            <a:ext cx="493776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0965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9FFD"/>
                </a:solidFill>
              </a:defRPr>
            </a:pPr>
            <a:r>
              <a:t>FastAPI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0965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389FFD"/>
                </a:solidFill>
              </a:defRPr>
            </a:pPr>
            <a:r>
              <a:t>Web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480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</a:defRPr>
            </a:pPr>
            <a:r>
              <a:t>High-performance Python web framework with automatic OpenAPI documentation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23360"/>
            <a:ext cx="493776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0965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t>Copilot Studio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40965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Bot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80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</a:defRPr>
            </a:pPr>
            <a:r>
              <a:t>Microsoft's low-code platform for building AI bots integrated with Teams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120640"/>
            <a:ext cx="493776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193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t>Sentence Transformers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1937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7C3AED"/>
                </a:solidFill>
              </a:defRPr>
            </a:pPr>
            <a:r>
              <a:t>Embeddings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577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</a:defRPr>
            </a:pPr>
            <a:r>
              <a:t>Hugging Face models that convert text into mathematical vectors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120640"/>
            <a:ext cx="493776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193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Azure DevOps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51937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CI/CD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577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</a:defRPr>
            </a:pPr>
            <a:r>
              <a:t>End-to-end DevOps platform with Git repos, pipelines, and artifact management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8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Project Impact &amp; Key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560320" cy="14630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9FFD"/>
                </a:solidFill>
              </a:defRPr>
            </a:pPr>
            <a:r>
              <a:t>3-5s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</a:defRPr>
            </a:pPr>
            <a:r>
              <a:t>Average Response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103120"/>
            <a:ext cx="2560320" cy="14630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</a:defRPr>
            </a:pPr>
            <a:r>
              <a:t>Pipeline Test Pass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103120"/>
            <a:ext cx="2560320" cy="14630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9E0B"/>
                </a:solidFill>
              </a:defRPr>
            </a:pPr>
            <a:r>
              <a:t>2x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</a:defRPr>
            </a:pPr>
            <a:r>
              <a:t>Search Methods (Hybrid RAG)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103120"/>
            <a:ext cx="2560320" cy="14630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3AED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</a:defRPr>
            </a:pPr>
            <a:r>
              <a:t>CI/CD Pipeline Stages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14800"/>
            <a:ext cx="4937760" cy="10058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⚡  80% Faster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617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Instant AI-generated reports replace hours of manual compilation.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14800"/>
            <a:ext cx="4937760" cy="10058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206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🎯  Higher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617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Hybrid RAG (Semantic + Keyword) ensures no critical data is missed.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303520"/>
            <a:ext cx="4937760" cy="10058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394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💬  Zero Context Switching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806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Everything happens inside Microsoft Teams — no extra dashboards.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303520"/>
            <a:ext cx="4937760" cy="10058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394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🔄  Automated 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806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CBD5E1"/>
                </a:solidFill>
              </a:defRPr>
            </a:pPr>
            <a:r>
              <a:t>Every code push is automatically linted, tested, and packaged.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9FFD"/>
                </a:solidFill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</a:defRPr>
            </a:pPr>
            <a:r>
              <a:t>Shivam Seth  |  MAQ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</a:defRPr>
            </a:pPr>
            <a:r>
              <a:t>shivam.seth@maqsoftware.com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669280"/>
            <a:ext cx="1463040" cy="457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715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389FFD"/>
                </a:solidFill>
              </a:defRPr>
            </a:pPr>
            <a:r>
              <a:t>Semantic Kernel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5669280"/>
            <a:ext cx="1463040" cy="457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5715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389FFD"/>
                </a:solidFill>
              </a:defRPr>
            </a:pPr>
            <a:r>
              <a:t>LlamaIndex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5669280"/>
            <a:ext cx="1463040" cy="457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5715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389FFD"/>
                </a:solidFill>
              </a:defRPr>
            </a:pPr>
            <a:r>
              <a:t>Hybrid RAG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5669280"/>
            <a:ext cx="1463040" cy="457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5715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389FFD"/>
                </a:solidFill>
              </a:defRPr>
            </a:pPr>
            <a:r>
              <a:t>FastAPI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0" y="5669280"/>
            <a:ext cx="1463040" cy="457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5715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389FFD"/>
                </a:solidFill>
              </a:defRPr>
            </a:pPr>
            <a:r>
              <a:t>Copilot Studio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5669280"/>
            <a:ext cx="1463040" cy="457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5715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389FFD"/>
                </a:solidFill>
              </a:defRPr>
            </a:pPr>
            <a:r>
              <a:t>Azure DevOps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8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